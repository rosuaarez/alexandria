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68092"/>
            <a:ext cx="8096250" cy="96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27882"/>
            <a:ext cx="2279451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04132"/>
            <a:ext cx="5835573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Prueba de Usabilidad:</a:t>
            </a:r>
            <a:r>
              <a:t>
</a:t>
            </a: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 Botón de Pago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29892"/>
            <a:ext cx="8096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Evaluación de experiencia de usuario e iteración del flujo transaccional para Compensalia.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708844"/>
            <a:ext cx="111025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4468117"/>
            <a:ext cx="24129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Cliente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Compensalia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3075" y="4468117"/>
            <a:ext cx="24129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ID Protocolo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botn-de-pago-pdu-a-2026-07-06-v1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525" y="4468117"/>
            <a:ext cx="241295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Fecha Presentación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07 / 08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9850"/>
            <a:ext cx="5410200" cy="2247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609850"/>
            <a:ext cx="5410200" cy="2247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14350"/>
            <a:ext cx="336946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2901" y="2847975"/>
            <a:ext cx="4904206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Ficha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2651" y="2847975"/>
            <a:ext cx="4924209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Fechas Clave y Equipo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871787"/>
            <a:ext cx="168026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257550"/>
            <a:ext cx="4933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Proyecto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Botón de Pago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625" y="353377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625" y="3619500"/>
            <a:ext cx="4933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Cliente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Compensalia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625" y="389572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625" y="3981450"/>
            <a:ext cx="4933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Tema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Prueba de Usabilidad (Alexandría)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625" y="425767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625" y="4343400"/>
            <a:ext cx="4933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ID Rastreo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botn-de-pago-pdu-a-2026-07-06-v1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871787"/>
            <a:ext cx="148976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8425" y="3257550"/>
            <a:ext cx="4933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Inicio del Proyecto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2026-08-07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8425" y="353377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8425" y="3619500"/>
            <a:ext cx="4933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Presentación Resultados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2026-08-07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8425" y="389572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8425" y="3981450"/>
            <a:ext cx="4933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Aplicación del Test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2026-08-06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8425" y="425767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8425" y="4343400"/>
            <a:ext cx="4933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Equipo Responsable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UX Research &amp; Stakeholder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625" y="353377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625" y="389572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625" y="425767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8425" y="353377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8425" y="389572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8425" y="4257675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2746" y="476250"/>
            <a:ext cx="111276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Contexto del Proyecto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" y="857250"/>
            <a:ext cx="70871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19300"/>
            <a:ext cx="535305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00225"/>
            <a:ext cx="5353050" cy="1857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0"/>
            <a:ext cx="5353050" cy="1857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14350"/>
            <a:ext cx="298846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2028825"/>
            <a:ext cx="5334000" cy="3409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07645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2686050"/>
            <a:ext cx="156269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Método y Enfoque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981325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Prueba de Usabilidad Cualitativa para entender la efectividad, patrones clave y puntos de fricción en la interacción.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086225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625" y="4695825"/>
            <a:ext cx="223402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Herramientas &amp; Modalidad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991100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Ejecución remota no moderada a través de </a:t>
            </a:r>
            <a:r>
              <a:rPr b="1" sz="1050" i="0" u="none">
                <a:solidFill>
                  <a:srgbClr val="64748B"/>
                </a:solidFill>
                <a:latin typeface="Inter"/>
              </a:rPr>
              <a:t>Maze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y prototipado dinámico en </a:t>
            </a:r>
            <a:r>
              <a:rPr b="1" sz="1050" i="0" u="none">
                <a:solidFill>
                  <a:srgbClr val="64748B"/>
                </a:solidFill>
                <a:latin typeface="Inter"/>
              </a:rPr>
              <a:t>Figma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2209800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162" y="4219575"/>
            <a:ext cx="2381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4646" y="476250"/>
            <a:ext cx="1116764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Metodología de 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857250"/>
            <a:ext cx="76533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0762"/>
            <a:ext cx="5410200" cy="117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290762"/>
            <a:ext cx="5410200" cy="117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52837"/>
            <a:ext cx="5410200" cy="1524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652837"/>
            <a:ext cx="5410200" cy="1524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14350"/>
            <a:ext cx="298846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2528887"/>
            <a:ext cx="4933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3600" i="0" u="none">
                <a:solidFill>
                  <a:srgbClr val="2563EB"/>
                </a:solidFill>
                <a:latin typeface="Plus Jakarta Sans ExtraBold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062287"/>
            <a:ext cx="4933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 SemiBold"/>
              </a:rPr>
              <a:t>Muestra Total Programada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2528887"/>
            <a:ext cx="4933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3600" i="0" u="none">
                <a:solidFill>
                  <a:srgbClr val="2563EB"/>
                </a:solidFill>
                <a:latin typeface="Plus Jakarta Sans ExtraBold"/>
              </a:rPr>
              <a:t>1 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062287"/>
            <a:ext cx="4933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 SemiBold"/>
              </a:rPr>
              <a:t>Duración Promedio del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801" y="3890962"/>
            <a:ext cx="4944211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¿Por qué este tamaño de muestra?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224337"/>
            <a:ext cx="49339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Basado en los principios de investigación cualitativa de UX, un análisis iterativo permite detectar la mayoría de problemas de usabilidad con grupos clave para optimizar ágilmente el diseño.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701" y="3890962"/>
            <a:ext cx="4904206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KPIs Principales Evaluados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914775"/>
            <a:ext cx="129926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914775"/>
            <a:ext cx="168026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8425" y="4300537"/>
            <a:ext cx="4933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Completitud de Tarea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task_completion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8425" y="4576762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8425" y="4662487"/>
            <a:ext cx="4933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Efectividad de Navegación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first_click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8425" y="4576762"/>
            <a:ext cx="49339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4646" y="476250"/>
            <a:ext cx="1116764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Muestra y Métricas 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857250"/>
            <a:ext cx="7179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1237"/>
            <a:ext cx="5524500" cy="1914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48162"/>
            <a:ext cx="5524500" cy="1181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0846" y="476250"/>
            <a:ext cx="528691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Tipificación de Muestra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857250"/>
            <a:ext cx="148917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14350"/>
            <a:ext cx="375046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862137"/>
            <a:ext cx="552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 Medium"/>
              </a:rPr>
              <a:t>Perfil de ProtoPersona configurado para la prueba de usabilidad: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526" y="4586287"/>
            <a:ext cx="497421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Características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919662"/>
            <a:ext cx="50482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Usuarios acostumbrados a flujos digitales sencillos, con expectativa de respuesta inmediata y poca tolerancia a procesos de pago complejos.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595562"/>
            <a:ext cx="504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Rango de Edad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18 - 30 años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625" y="2871787"/>
            <a:ext cx="5048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" y="2957512"/>
            <a:ext cx="504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Género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Masculino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625" y="3233737"/>
            <a:ext cx="5048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625" y="3319462"/>
            <a:ext cx="504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Nivel Digital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Básico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625" y="3595687"/>
            <a:ext cx="5048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625" y="3681412"/>
            <a:ext cx="50482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Ocupación</a:t>
            </a:r>
            <a:r>
              <a:rPr b="0" sz="1050" i="0" u="none">
                <a:solidFill>
                  <a:srgbClr val="0F172A"/>
                </a:solidFill>
                <a:latin typeface="Inter SemiBold"/>
              </a:rPr>
              <a:t>Estudiante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610100"/>
            <a:ext cx="215651" cy="1714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9625" y="2871787"/>
            <a:ext cx="5048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625" y="3233737"/>
            <a:ext cx="5048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625" y="3595687"/>
            <a:ext cx="50482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5087"/>
            <a:ext cx="3555950" cy="2257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605087"/>
            <a:ext cx="3555950" cy="2257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605087"/>
            <a:ext cx="3556099" cy="2257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14350"/>
            <a:ext cx="298846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881312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490912"/>
            <a:ext cx="125984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Tipo de Prueba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786187"/>
            <a:ext cx="30797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64748B"/>
                </a:solidFill>
                <a:latin typeface="Inter"/>
              </a:rPr>
              <a:t>No Moderado</a:t>
            </a:r>
            <a:r>
              <a:t>
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Permite evaluar la autonomía del usuario al interactuar con el botón de pago en su propio entorno.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075" y="2881312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56075" y="3490912"/>
            <a:ext cx="110701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Introducción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3786187"/>
            <a:ext cx="30797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Mensaje inicial orientativo que establece el objetivo de la actividad, asegurando que se evalúa la interfaz y no las capacidades del usuario.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2525" y="288131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2525" y="3490912"/>
            <a:ext cx="52850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Cierre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3786187"/>
            <a:ext cx="30798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Agradecimiento final y recopilación de comentarios abiertos sobre la claridad y confianza que transmitió el flujo de pago.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787" y="3014662"/>
            <a:ext cx="1428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5137" y="3014662"/>
            <a:ext cx="21907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5400" y="3014662"/>
            <a:ext cx="17145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4646" y="476250"/>
            <a:ext cx="1116764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Desarrollo de la Prueba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857250"/>
            <a:ext cx="71089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0756"/>
            <a:ext cx="11049000" cy="747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02768"/>
            <a:ext cx="11049000" cy="11477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64831"/>
            <a:ext cx="11049000" cy="747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764756"/>
            <a:ext cx="2032694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7094" y="3764756"/>
            <a:ext cx="2032694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4089" y="3764756"/>
            <a:ext cx="2032694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1083" y="3764756"/>
            <a:ext cx="2032694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8078" y="3764756"/>
            <a:ext cx="2032694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14350"/>
            <a:ext cx="222646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0100" y="2402681"/>
            <a:ext cx="1115139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PREGUNTA 1 — TEXTO ABIERTO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612231"/>
            <a:ext cx="10620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E293B"/>
                </a:solidFill>
                <a:latin typeface="Inter Medium"/>
              </a:rPr>
              <a:t>Pregunta cualitativa para explorar impresiones iniciales y comprensión del concepto del Botón de Pago.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264693"/>
            <a:ext cx="1115139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PREGUNTA 2 — ESCALA LIKERT (FACILIDAD DE USO)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474243"/>
            <a:ext cx="10620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E293B"/>
                </a:solidFill>
                <a:latin typeface="Inter Medium"/>
              </a:rPr>
              <a:t>¿Qué tan fácil o difícil fue completar el proceso de pago?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526756"/>
            <a:ext cx="1115139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PREGUNTA 3 — OPCIÓN MÚLTIPLE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736306"/>
            <a:ext cx="10620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1E293B"/>
                </a:solidFill>
                <a:latin typeface="Inter Medium"/>
              </a:rPr>
              <a:t>Selección de los factores o atributos que generaron mayor confianza durante la transacción.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446" y="476250"/>
            <a:ext cx="1124765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Estrutura del Cuestionario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857250"/>
            <a:ext cx="678418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48100"/>
            <a:ext cx="11049000" cy="1009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14350"/>
            <a:ext cx="298846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4801" y="4086225"/>
            <a:ext cx="10864951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Documentación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4419600"/>
            <a:ext cx="105727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La documentación detallada y protocolos de soporte están disponibles a través de la plataforma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Alexandría UX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9241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924175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110037"/>
            <a:ext cx="129926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1125" y="2847975"/>
            <a:ext cx="458057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One-pager 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1125" y="3048000"/>
            <a:ext cx="4362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Resumen ejecutivo estructurado con los hallazgos principales y recomendaciones rápidas.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9925" y="2847975"/>
            <a:ext cx="4580572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Customer Journey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9925" y="3048000"/>
            <a:ext cx="4362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Mapa visual del flujo de experiencia con puntos de dolor, emociones y oportunidades de mejora.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4646" y="476250"/>
            <a:ext cx="1116764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Entregables del Protocolo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857250"/>
            <a:ext cx="667345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8813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643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6433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241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03133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https://framerusercontent.com/images/kPBRAAVVU1DvnGjZePSe9AiJAmE.jpg?width=2138&amp;height=1200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26469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www.protopie.io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8143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795712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http://nationalcentreforai.jiscinvolve.org/wp/files/2025/05/a-candid-lifestyle-photograph-captures-a_hhuHbTCwRd6VdLh0oJX4Dw_gTSXn7wpQIqfbXft9ZiHhA-300x300.png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14812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nationalcentreforai.jiscinvolve.org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857250"/>
            <a:ext cx="86802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