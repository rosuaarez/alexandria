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222402"/>
            <a:ext cx="8572500" cy="1000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635472"/>
            <a:ext cx="335786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187922"/>
            <a:ext cx="5987154" cy="1215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b="0" sz="4350" i="0" u="none">
                <a:solidFill>
                  <a:srgbClr val="F1F5F9"/>
                </a:solidFill>
                <a:latin typeface="Plus Jakarta Sans ExtraBold"/>
              </a:rPr>
              <a:t>Prueba de Usabilidad:</a:t>
            </a:r>
            <a:r>
              <a:t>
</a:t>
            </a:r>
            <a:r>
              <a:rPr b="0" sz="4350" i="0" u="none">
                <a:solidFill>
                  <a:srgbClr val="F1F5F9"/>
                </a:solidFill>
                <a:latin typeface="Plus Jakarta Sans ExtraBold"/>
              </a:rPr>
              <a:t>Botón de Pago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593752"/>
            <a:ext cx="82105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Evaluación de experiencia de usuario e iteración del flujo transaccional para Compensalia.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735484"/>
            <a:ext cx="150316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4441477"/>
            <a:ext cx="254630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Cliente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F8FAFC"/>
                </a:solidFill>
                <a:latin typeface="Inter"/>
              </a:rPr>
              <a:t>Compensalia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4050" y="4441477"/>
            <a:ext cx="254630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ID Protocolo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F8FAFC"/>
                </a:solidFill>
                <a:latin typeface="Inter"/>
              </a:rPr>
              <a:t>botn-de-pago-pdu-a-2026-07-06-v1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0850" y="4441477"/>
            <a:ext cx="2546449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Fecha Presentación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F8FAFC"/>
                </a:solidFill>
                <a:latin typeface="Inter"/>
              </a:rPr>
              <a:t>07 / 08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05075"/>
            <a:ext cx="5400675" cy="2457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505075"/>
            <a:ext cx="5400675" cy="2457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23875"/>
            <a:ext cx="336946" cy="30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0550" y="3719512"/>
            <a:ext cx="5381625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476" y="2762250"/>
            <a:ext cx="48542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Ficha General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9825" y="3719512"/>
            <a:ext cx="5381625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11701" y="2762250"/>
            <a:ext cx="4874202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Fechas Clave y Equipo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786062"/>
            <a:ext cx="168026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8200" y="3209925"/>
            <a:ext cx="4886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Proyecto</a:t>
            </a:r>
            <a:r>
              <a:rPr b="0" sz="1050" i="0" u="none">
                <a:solidFill>
                  <a:srgbClr val="F1F5F9"/>
                </a:solidFill>
                <a:latin typeface="Inter SemiBold"/>
              </a:rPr>
              <a:t>Botón de Pago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8200" y="350520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609975"/>
            <a:ext cx="4886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Cliente</a:t>
            </a:r>
            <a:r>
              <a:rPr b="0" sz="1050" i="0" u="none">
                <a:solidFill>
                  <a:srgbClr val="F1F5F9"/>
                </a:solidFill>
                <a:latin typeface="Inter SemiBold"/>
              </a:rPr>
              <a:t>Compensalia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390525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4010025"/>
            <a:ext cx="4886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Tema</a:t>
            </a:r>
            <a:r>
              <a:rPr b="0" sz="1050" i="0" u="none">
                <a:solidFill>
                  <a:srgbClr val="F1F5F9"/>
                </a:solidFill>
                <a:latin typeface="Inter SemiBold"/>
              </a:rPr>
              <a:t>Prueba de Usabilidad (Alexandría)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430530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4410075"/>
            <a:ext cx="48863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ID Rastreo</a:t>
            </a:r>
            <a:r>
              <a:rPr b="0" sz="1050" i="0" u="none">
                <a:solidFill>
                  <a:srgbClr val="F1F5F9"/>
                </a:solidFill>
                <a:latin typeface="Inter SemiBold"/>
              </a:rPr>
              <a:t>botn-de-pago-pdu-a-2026-07-06-v1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2786062"/>
            <a:ext cx="148976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67475" y="3209925"/>
            <a:ext cx="4886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Inicio del Proyecto</a:t>
            </a:r>
            <a:r>
              <a:rPr b="0" sz="1050" i="0" u="none">
                <a:solidFill>
                  <a:srgbClr val="F1F5F9"/>
                </a:solidFill>
                <a:latin typeface="Inter SemiBold"/>
              </a:rPr>
              <a:t>2026-08-07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67475" y="350520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7475" y="3609975"/>
            <a:ext cx="4886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Presentación Resultados</a:t>
            </a:r>
            <a:r>
              <a:rPr b="0" sz="1050" i="0" u="none">
                <a:solidFill>
                  <a:srgbClr val="F1F5F9"/>
                </a:solidFill>
                <a:latin typeface="Inter SemiBold"/>
              </a:rPr>
              <a:t>2026-08-07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7475" y="390525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7475" y="4010025"/>
            <a:ext cx="4886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Aplicación del Test</a:t>
            </a:r>
            <a:r>
              <a:rPr b="0" sz="1050" i="0" u="none">
                <a:solidFill>
                  <a:srgbClr val="F1F5F9"/>
                </a:solidFill>
                <a:latin typeface="Inter SemiBold"/>
              </a:rPr>
              <a:t>2026-08-06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7475" y="430530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7475" y="4410075"/>
            <a:ext cx="48863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Equipo Responsable</a:t>
            </a:r>
            <a:r>
              <a:rPr b="0" sz="1050" i="0" u="none">
                <a:solidFill>
                  <a:srgbClr val="F1F5F9"/>
                </a:solidFill>
                <a:latin typeface="Inter SemiBold"/>
              </a:rPr>
              <a:t>UX Research &amp; Stakeholder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8200" y="350520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" y="390525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200" y="430530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67475" y="350520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67475" y="390525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7475" y="430530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321" y="485775"/>
            <a:ext cx="1108763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Contexto del Proyecto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025" y="866775"/>
            <a:ext cx="701099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19300"/>
            <a:ext cx="5343525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714500"/>
            <a:ext cx="5343525" cy="1943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810000"/>
            <a:ext cx="5343525" cy="1943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23875"/>
            <a:ext cx="298846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2028825"/>
            <a:ext cx="5324475" cy="3409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1990725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2657475"/>
            <a:ext cx="16294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8FAFC"/>
                </a:solidFill>
                <a:latin typeface="Plus Jakarta Sans"/>
              </a:rPr>
              <a:t>Método y Enfoque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981325"/>
            <a:ext cx="48672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Prueba de Usabilidad Cualitativa para entender la efectividad, patrones clave y puntos de fricción en la interacción.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086225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9150" y="4752975"/>
            <a:ext cx="23792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8FAFC"/>
                </a:solidFill>
                <a:latin typeface="Plus Jakarta Sans"/>
              </a:rPr>
              <a:t>Herramientas &amp; Modalidad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5076825"/>
            <a:ext cx="48672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Ejecución remota no moderada a través de </a:t>
            </a:r>
            <a:r>
              <a:rPr b="1" sz="1050" i="0" u="none">
                <a:solidFill>
                  <a:srgbClr val="60A5FA"/>
                </a:solidFill>
                <a:latin typeface="Inter"/>
              </a:rPr>
              <a:t>Maze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y prototipado dinámico en </a:t>
            </a:r>
            <a:r>
              <a:rPr b="1" sz="1050" i="0" u="none">
                <a:solidFill>
                  <a:srgbClr val="C084FC"/>
                </a:solidFill>
                <a:latin typeface="Inter"/>
              </a:rPr>
              <a:t>Figma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312" y="2133600"/>
            <a:ext cx="18097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" y="4229100"/>
            <a:ext cx="26670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3221" y="485775"/>
            <a:ext cx="111276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Metodología de 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866775"/>
            <a:ext cx="7577137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85987"/>
            <a:ext cx="5400675" cy="1247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185987"/>
            <a:ext cx="5400675" cy="1247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624262"/>
            <a:ext cx="5400675" cy="1657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624262"/>
            <a:ext cx="5400675" cy="1657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443162"/>
            <a:ext cx="4886325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2443162"/>
            <a:ext cx="4886325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523875"/>
            <a:ext cx="298846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200" y="3014662"/>
            <a:ext cx="488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Inter SemiBold"/>
              </a:rPr>
              <a:t>MUESTRA TOTAL PROGRAMADA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3014662"/>
            <a:ext cx="488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Inter SemiBold"/>
              </a:rPr>
              <a:t>DURACIÓN PROMEDIO DEL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550" y="4438650"/>
            <a:ext cx="5381625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3376" y="3881437"/>
            <a:ext cx="489420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¿Por qué este tamaño de muestra?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233862"/>
            <a:ext cx="488632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Basado en los principios de investigación cualitativa de UX, un análisis iterativo permite detectar la mayoría de problemas de usabilidad con grupos clave para optimizar ágilmente el diseño.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9825" y="4438650"/>
            <a:ext cx="5381625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0751" y="3881437"/>
            <a:ext cx="48542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KPIs Principales Evaluados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905250"/>
            <a:ext cx="12992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7475" y="3905250"/>
            <a:ext cx="168026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67475" y="4329112"/>
            <a:ext cx="4886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Completitud de Tarea</a:t>
            </a:r>
            <a:r>
              <a:rPr b="0" sz="1050" i="0" u="none">
                <a:solidFill>
                  <a:srgbClr val="38BDF8"/>
                </a:solidFill>
                <a:latin typeface="Inter SemiBold"/>
              </a:rPr>
              <a:t>task_completion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67475" y="4624387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7475" y="4729162"/>
            <a:ext cx="48863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Efectividad de Navegación</a:t>
            </a:r>
            <a:r>
              <a:rPr b="0" sz="1050" i="0" u="none">
                <a:solidFill>
                  <a:srgbClr val="C084FC"/>
                </a:solidFill>
                <a:latin typeface="Inter SemiBold"/>
              </a:rPr>
              <a:t>first_click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7475" y="4624387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3221" y="485775"/>
            <a:ext cx="111276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Muestra y Métricas KPI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866775"/>
            <a:ext cx="7112346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57412"/>
            <a:ext cx="5514975" cy="2105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414837"/>
            <a:ext cx="5514975" cy="1238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9421" y="485775"/>
            <a:ext cx="525690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Tipificación de Muestra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866775"/>
            <a:ext cx="1412976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23875"/>
            <a:ext cx="375046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1738312"/>
            <a:ext cx="5514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 Medium"/>
              </a:rPr>
              <a:t>Perfil de ProtoPersona configurado para la prueba de usabilidad: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0550" y="3195637"/>
            <a:ext cx="5495925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5019675"/>
            <a:ext cx="5495925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9101" y="4672012"/>
            <a:ext cx="4924209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Características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024437"/>
            <a:ext cx="5000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Usuarios acostumbrados a flujos digitales sencillos, con expectativa de respuesta inmediata y poca tolerancia a procesos de pago complejos.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509837"/>
            <a:ext cx="5000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Rango de Edad</a:t>
            </a:r>
            <a:r>
              <a:rPr b="0" sz="1050" i="0" u="none">
                <a:solidFill>
                  <a:srgbClr val="F1F5F9"/>
                </a:solidFill>
                <a:latin typeface="Inter SemiBold"/>
              </a:rPr>
              <a:t>18 - 30 años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200" y="2805112"/>
            <a:ext cx="50006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2909887"/>
            <a:ext cx="5000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Género</a:t>
            </a:r>
            <a:r>
              <a:rPr b="0" sz="1050" i="0" u="none">
                <a:solidFill>
                  <a:srgbClr val="F1F5F9"/>
                </a:solidFill>
                <a:latin typeface="Inter SemiBold"/>
              </a:rPr>
              <a:t>Masculino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8200" y="3205162"/>
            <a:ext cx="50006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3309937"/>
            <a:ext cx="5000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Nivel Digital</a:t>
            </a:r>
            <a:r>
              <a:rPr b="0" sz="1050" i="0" u="none">
                <a:solidFill>
                  <a:srgbClr val="F1F5F9"/>
                </a:solidFill>
                <a:latin typeface="Inter SemiBold"/>
              </a:rPr>
              <a:t>Básico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3605212"/>
            <a:ext cx="50006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3709987"/>
            <a:ext cx="5000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Ocupación</a:t>
            </a:r>
            <a:r>
              <a:rPr b="0" sz="1050" i="0" u="none">
                <a:solidFill>
                  <a:srgbClr val="F1F5F9"/>
                </a:solidFill>
                <a:latin typeface="Inter SemiBold"/>
              </a:rPr>
              <a:t>Estudiante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695825"/>
            <a:ext cx="215651" cy="17145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38200" y="2805112"/>
            <a:ext cx="50006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8200" y="3205162"/>
            <a:ext cx="50006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" y="3605212"/>
            <a:ext cx="50006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58237" y="9525"/>
            <a:ext cx="762000" cy="6838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62225"/>
            <a:ext cx="3549550" cy="2343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75" y="2562225"/>
            <a:ext cx="3549699" cy="2343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275" y="2562225"/>
            <a:ext cx="3549550" cy="2343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23875"/>
            <a:ext cx="298846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838450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3505200"/>
            <a:ext cx="1317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8FAFC"/>
                </a:solidFill>
                <a:latin typeface="Plus Jakarta Sans"/>
              </a:rPr>
              <a:t>Tipo de Prueba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829050"/>
            <a:ext cx="30733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F8FAFC"/>
                </a:solidFill>
                <a:latin typeface="Inter"/>
              </a:rPr>
              <a:t>No Moderado</a:t>
            </a:r>
            <a:r>
              <a:t>
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Permite evaluar la autonomía del usuario al interactuar con el botón de pago en su propio entorno.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9200" y="2838450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59200" y="3505200"/>
            <a:ext cx="114467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8FAFC"/>
                </a:solidFill>
                <a:latin typeface="Plus Jakarta Sans"/>
              </a:rPr>
              <a:t>Introducción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200" y="3829050"/>
            <a:ext cx="3073449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Mensaje inicial orientativo que establece el objetivo de la actividad, asegurando que se evalúa la interfaz y no las capacidades del usuario.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9400" y="2838450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9400" y="3505200"/>
            <a:ext cx="55741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8FAFC"/>
                </a:solidFill>
                <a:latin typeface="Plus Jakarta Sans"/>
              </a:rPr>
              <a:t>Cierre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9400" y="3829050"/>
            <a:ext cx="30733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Agradecimiento final y recopilación de comentarios abiertos sobre la claridad y confianza que transmitió el flujo de pago.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837" y="2981325"/>
            <a:ext cx="1619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7788" y="2981325"/>
            <a:ext cx="23812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6562" y="2981325"/>
            <a:ext cx="180975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13221" y="485775"/>
            <a:ext cx="111276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Desarrollo de la Prueba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866775"/>
            <a:ext cx="7051776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26456"/>
            <a:ext cx="11029950" cy="7858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045618"/>
            <a:ext cx="11029950" cy="1243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421981"/>
            <a:ext cx="11029950" cy="7858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745706"/>
            <a:ext cx="2028825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3745706"/>
            <a:ext cx="2028825" cy="361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5875" y="3745706"/>
            <a:ext cx="2028825" cy="361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9950" y="3745706"/>
            <a:ext cx="2028825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4025" y="3745706"/>
            <a:ext cx="2028825" cy="361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523875"/>
            <a:ext cx="222646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7725" y="2307431"/>
            <a:ext cx="1105138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PREGUNTA 1 — TEXTO ABIERTO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516981"/>
            <a:ext cx="105251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F1F5F9"/>
                </a:solidFill>
                <a:latin typeface="Inter Medium"/>
              </a:rPr>
              <a:t>Pregunta cualitativa para explorar impresiones iniciales y comprensión del concepto del Botón de Pago.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226593"/>
            <a:ext cx="1105138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PREGUNTA 2 — ESCALA LIKERT (FACILIDAD DE USO)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436143"/>
            <a:ext cx="105251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F1F5F9"/>
                </a:solidFill>
                <a:latin typeface="Inter Medium"/>
              </a:rPr>
              <a:t>¿Qué tan fácil o difícil fue completar el proceso de pago?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602956"/>
            <a:ext cx="1105138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PREGUNTA 3 — OPCIÓN MÚLTIPLE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812506"/>
            <a:ext cx="105251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F1F5F9"/>
                </a:solidFill>
                <a:latin typeface="Inter Medium"/>
              </a:rPr>
              <a:t>Selección de los factores o atributos que generaron mayor confianza durante la transacción.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021" y="485775"/>
            <a:ext cx="11207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Estructura del Cuestionario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866775"/>
            <a:ext cx="6542636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829050"/>
            <a:ext cx="11029950" cy="1066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23875"/>
            <a:ext cx="298846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0550" y="4348162"/>
            <a:ext cx="11010900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3376" y="4086225"/>
            <a:ext cx="10804944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Documentación 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438650"/>
            <a:ext cx="10515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La documentación detallada y protocolos de soporte están disponibles a través de la plataforma </a:t>
            </a:r>
            <a:r>
              <a:rPr b="1" sz="1050" i="0" u="none">
                <a:solidFill>
                  <a:srgbClr val="60A5FA"/>
                </a:solidFill>
                <a:latin typeface="Inter"/>
              </a:rPr>
              <a:t>Alexandría UX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886075"/>
            <a:ext cx="438150" cy="438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886075"/>
            <a:ext cx="438150" cy="438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110037"/>
            <a:ext cx="129926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28750" y="2809875"/>
            <a:ext cx="453056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One-pager 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0" y="3028950"/>
            <a:ext cx="43148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Resumen ejecutivo estructurado con los hallazgos principales y recomendaciones rápidas.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2809875"/>
            <a:ext cx="453056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Customer Journey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3028950"/>
            <a:ext cx="43148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Mapa visual del flujo de experiencia con puntos de dolor, emociones y oportunidades de mejora.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221" y="485775"/>
            <a:ext cx="111276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Entregables del Protocolo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866775"/>
            <a:ext cx="6606778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